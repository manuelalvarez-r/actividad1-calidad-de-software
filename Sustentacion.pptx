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1C-4F92-A1A6-1F0CFC0A93CC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1C-4F92-A1A6-1F0CFC0A93CC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1C-4F92-A1A6-1F0CFC0A93CC}"/>
              </c:ext>
            </c:extLst>
          </c:dPt>
          <c:dPt>
            <c:idx val="3"/>
            <c:invertIfNegative val="0"/>
            <c:bubble3D val="0"/>
            <c:spPr>
              <a:solidFill>
                <a:srgbClr val="0B6E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1C-4F92-A1A6-1F0CFC0A93C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2343B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Advanced</c:v>
                </c:pt>
                <c:pt idx="1">
                  <c:v>Happy Path</c:v>
                </c:pt>
                <c:pt idx="2">
                  <c:v>Exceptional</c:v>
                </c:pt>
                <c:pt idx="3">
                  <c:v>Performance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8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1C-4F92-A1A6-1F0CFC0A93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2343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88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sustentación de Calculadora Graydoll, proyecto de la asignatura Calidad de Software. El foco no es la calculadora, sino demostrar buenas prácticas: arquitectura desacoplada, </a:t>
            </a:r>
            <a:r>
              <a:rPr lang="en-US" dirty="0" err="1"/>
              <a:t>principios</a:t>
            </a:r>
            <a:r>
              <a:rPr lang="en-US" dirty="0"/>
              <a:t> SOLID y una suite de pruebas automatizadas.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calculadora opera de forma encadenada: al presionar un nuevo operador con una operación pendiente, resuelve la anterior. Al dividir por cero muestra un error controlado en lugar de Infinity o 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Elegimos Java 17 por ser LTS y estable; Gradle con wrapper para reproducibilidad total del build; y JUnit 5 por su modelo de anotaciones, pruebas parametrizadas y de tiempo límite, clave para este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diseño separa presentación, dominio y pruebas. La clave: Calculator no calcula, delega cada operación en una implementación de Operation. Esta arquitectura es lo que da sentido a toda la suite de pruebas.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Aplicamos SOLID (SRP, OCP, DIP), el patrón Strategy y la inyección de dependencias. Esto es precisamente lo que hace testeable el sistema y da sentido a la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no tiene una sola prueba sino cuatro categorías complementarias, cada una respondiendo una pregunta distinta. Todas siguen AAA y usan tolerancia DELTA porque los double no son exactos: 0.1 + 0.2 no da exactamente 0.3.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Camino feliz: 8 pruebas de corrección con casos de identidad y signos. Camino excepcional: 3 pruebas que cubren las tres variantes de división por cero — cero, cero negativo e indeterminado — verificando incluso el mensaje exacto.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avanzadas elevan la cobertura con parametrización y poco código: positivos, negativos, decimales, ceros y bordes. Los grupos E (Liskov) y F (inyección) prueban el diseño: el contrato de la interfaz y que Calculator delega en vez de calcular.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pruebas de tiempo acotado. @Timeout es declarativa; assertTimeout es programática. Incluir ambas demuestra dominio de las dos formas de acotar tiempo en JUnit 5. Garantizan que futuras modificaciones no introduzcan lentitud inaceptable.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suite se compiló y ejecutó: 34 tests encontrados, 34 ejecutados, 34 exitosos, 0 fallos, 0 omitidos, 100% de éxito. Distribución: Advanced 21, Happy Path 8, Exceptional 3, Performance 2. Reproducible con gradlew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pilares evaluados: corrección, robustez, buen diseño y desempeño. La suite no solo verifica que las cuentas dan bien, sino que sustenta la calidad del software. También maneja correctamente el punto flotante con tolerancias DELTA.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cumple su objetivo académico. La ejecución arroja 34/34 pruebas exitosas. La separación entre lógica e interfaz es lo que hace posible probar el 100% de la lógica de negocio de forma automatizada.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241280" y="3291840"/>
            <a:ext cx="4572000" cy="45720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397" y="1071677"/>
            <a:ext cx="462686" cy="462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9326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SOFTWARE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57400" y="122529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sustentación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Calculadora Graydoll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desacoplada y una batería de pruebas que sustenta la calidad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663440"/>
            <a:ext cx="6949440" cy="1325880"/>
          </a:xfrm>
          <a:prstGeom prst="roundRect">
            <a:avLst>
              <a:gd name="adj" fmla="val 8276"/>
            </a:avLst>
          </a:prstGeom>
          <a:solidFill>
            <a:srgbClr val="14343D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97280" y="482803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
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Felipe Álvarez Rua   ·   Carlos Andrey Henao Rincón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0" y="5074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 agosto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¿Qué hace el programa?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79" y="1481328"/>
            <a:ext cx="102637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calculadora de escritorio (Swing) que ejecuta las cuatro operaciones aritméticas básicas, con operatoria encadenada y manejo controlado de errores.</a:t>
            </a:r>
            <a:endParaRPr lang="en-US" sz="1600" dirty="0"/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BA84CA3E-46D6-716F-7BA0-2C02AD91EA3A}"/>
              </a:ext>
            </a:extLst>
          </p:cNvPr>
          <p:cNvGrpSpPr/>
          <p:nvPr/>
        </p:nvGrpSpPr>
        <p:grpSpPr>
          <a:xfrm>
            <a:off x="1537659" y="2706624"/>
            <a:ext cx="3154680" cy="1051560"/>
            <a:chOff x="640080" y="2514600"/>
            <a:chExt cx="3154680" cy="1051560"/>
          </a:xfrm>
        </p:grpSpPr>
        <p:sp>
          <p:nvSpPr>
            <p:cNvPr id="5" name="Shape 3"/>
            <p:cNvSpPr/>
            <p:nvPr/>
          </p:nvSpPr>
          <p:spPr>
            <a:xfrm>
              <a:off x="640080" y="2514600"/>
              <a:ext cx="3154680" cy="1051560"/>
            </a:xfrm>
            <a:prstGeom prst="roundRect">
              <a:avLst>
                <a:gd name="adj" fmla="val 8696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6" name="Text 4"/>
            <p:cNvSpPr/>
            <p:nvPr/>
          </p:nvSpPr>
          <p:spPr>
            <a:xfrm>
              <a:off x="868680" y="266090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Suma  +</a:t>
              </a:r>
              <a:endParaRPr lang="en-US" sz="180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306324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Suma dos operandos</a:t>
              </a:r>
              <a:endParaRPr lang="en-US" sz="1200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98B173B9-6A60-B31E-2A3C-6D5936FFC708}"/>
              </a:ext>
            </a:extLst>
          </p:cNvPr>
          <p:cNvGrpSpPr/>
          <p:nvPr/>
        </p:nvGrpSpPr>
        <p:grpSpPr>
          <a:xfrm>
            <a:off x="6361119" y="2720340"/>
            <a:ext cx="3154680" cy="1051560"/>
            <a:chOff x="4023360" y="2514600"/>
            <a:chExt cx="3154680" cy="1051560"/>
          </a:xfrm>
        </p:grpSpPr>
        <p:sp>
          <p:nvSpPr>
            <p:cNvPr id="8" name="Shape 6"/>
            <p:cNvSpPr/>
            <p:nvPr/>
          </p:nvSpPr>
          <p:spPr>
            <a:xfrm>
              <a:off x="4023360" y="2514600"/>
              <a:ext cx="3154680" cy="1051560"/>
            </a:xfrm>
            <a:prstGeom prst="roundRect">
              <a:avLst>
                <a:gd name="adj" fmla="val 8696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 7"/>
            <p:cNvSpPr/>
            <p:nvPr/>
          </p:nvSpPr>
          <p:spPr>
            <a:xfrm>
              <a:off x="4251960" y="266090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Resta  −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4251960" y="306324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Resta el segundo del primero</a:t>
              </a:r>
              <a:endParaRPr lang="en-US" sz="120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458D3084-E28D-39EC-A43D-A93160649356}"/>
              </a:ext>
            </a:extLst>
          </p:cNvPr>
          <p:cNvGrpSpPr/>
          <p:nvPr/>
        </p:nvGrpSpPr>
        <p:grpSpPr>
          <a:xfrm>
            <a:off x="1514799" y="4438894"/>
            <a:ext cx="3154680" cy="1051560"/>
            <a:chOff x="640080" y="3749040"/>
            <a:chExt cx="3154680" cy="1051560"/>
          </a:xfrm>
        </p:grpSpPr>
        <p:sp>
          <p:nvSpPr>
            <p:cNvPr id="11" name="Shape 9"/>
            <p:cNvSpPr/>
            <p:nvPr/>
          </p:nvSpPr>
          <p:spPr>
            <a:xfrm>
              <a:off x="640080" y="3749040"/>
              <a:ext cx="3154680" cy="1051560"/>
            </a:xfrm>
            <a:prstGeom prst="roundRect">
              <a:avLst>
                <a:gd name="adj" fmla="val 8696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 10"/>
            <p:cNvSpPr/>
            <p:nvPr/>
          </p:nvSpPr>
          <p:spPr>
            <a:xfrm>
              <a:off x="868680" y="389534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Multiplicación  ×</a:t>
              </a:r>
              <a:endParaRPr lang="en-US" sz="18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868680" y="429768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Producto de dos operandos</a:t>
              </a:r>
              <a:endParaRPr lang="en-US" sz="1200" dirty="0"/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9CA8695-4AB7-3FBC-442C-0D677C9EFE24}"/>
              </a:ext>
            </a:extLst>
          </p:cNvPr>
          <p:cNvGrpSpPr/>
          <p:nvPr/>
        </p:nvGrpSpPr>
        <p:grpSpPr>
          <a:xfrm>
            <a:off x="6361119" y="4452610"/>
            <a:ext cx="3154680" cy="1051560"/>
            <a:chOff x="4023360" y="3749040"/>
            <a:chExt cx="3154680" cy="1051560"/>
          </a:xfrm>
        </p:grpSpPr>
        <p:sp>
          <p:nvSpPr>
            <p:cNvPr id="14" name="Shape 12"/>
            <p:cNvSpPr/>
            <p:nvPr/>
          </p:nvSpPr>
          <p:spPr>
            <a:xfrm>
              <a:off x="4023360" y="3749040"/>
              <a:ext cx="3154680" cy="1051560"/>
            </a:xfrm>
            <a:prstGeom prst="roundRect">
              <a:avLst>
                <a:gd name="adj" fmla="val 8696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Text 13"/>
            <p:cNvSpPr/>
            <p:nvPr/>
          </p:nvSpPr>
          <p:spPr>
            <a:xfrm>
              <a:off x="4251960" y="3895344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028090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División  ÷</a:t>
              </a:r>
              <a:endParaRPr lang="en-US" sz="18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251960" y="4297680"/>
              <a:ext cx="2743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Rechaza dividir por cero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Tecnología implementada</a:t>
            </a:r>
            <a:endParaRPr lang="en-US" sz="3200" dirty="0"/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18CDE028-06EE-2E67-A433-82B9E6526DBF}"/>
              </a:ext>
            </a:extLst>
          </p:cNvPr>
          <p:cNvGrpSpPr/>
          <p:nvPr/>
        </p:nvGrpSpPr>
        <p:grpSpPr>
          <a:xfrm>
            <a:off x="502006" y="1985352"/>
            <a:ext cx="3429000" cy="4023360"/>
            <a:chOff x="640080" y="1737360"/>
            <a:chExt cx="3429000" cy="4023360"/>
          </a:xfrm>
        </p:grpSpPr>
        <p:sp>
          <p:nvSpPr>
            <p:cNvPr id="4" name="Shape 2"/>
            <p:cNvSpPr/>
            <p:nvPr/>
          </p:nvSpPr>
          <p:spPr>
            <a:xfrm>
              <a:off x="640080" y="1737360"/>
              <a:ext cx="3429000" cy="4023360"/>
            </a:xfrm>
            <a:prstGeom prst="roundRect">
              <a:avLst>
                <a:gd name="adj" fmla="val 3200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Shape 3"/>
            <p:cNvSpPr/>
            <p:nvPr/>
          </p:nvSpPr>
          <p:spPr>
            <a:xfrm>
              <a:off x="1847088" y="2057400"/>
              <a:ext cx="1005840" cy="1005840"/>
            </a:xfrm>
            <a:prstGeom prst="ellipse">
              <a:avLst/>
            </a:prstGeom>
            <a:solidFill>
              <a:srgbClr val="028090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6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8723" y="2339035"/>
              <a:ext cx="442570" cy="442570"/>
            </a:xfrm>
            <a:prstGeom prst="rect">
              <a:avLst/>
            </a:prstGeom>
          </p:spPr>
        </p:pic>
        <p:sp>
          <p:nvSpPr>
            <p:cNvPr id="7" name="Text 4"/>
            <p:cNvSpPr/>
            <p:nvPr/>
          </p:nvSpPr>
          <p:spPr>
            <a:xfrm>
              <a:off x="822960" y="3246120"/>
              <a:ext cx="3063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2343B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Java 17</a:t>
              </a:r>
              <a:endParaRPr lang="en-US" sz="2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960120" y="3794760"/>
              <a:ext cx="27889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LTS estable; usa características modernas como switch de expresión.</a:t>
              </a:r>
              <a:endParaRPr lang="en-US" sz="1400" dirty="0"/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E5DFECEA-FB1D-EC19-8CC1-D2E95839A756}"/>
              </a:ext>
            </a:extLst>
          </p:cNvPr>
          <p:cNvGrpSpPr/>
          <p:nvPr/>
        </p:nvGrpSpPr>
        <p:grpSpPr>
          <a:xfrm>
            <a:off x="4297680" y="1985352"/>
            <a:ext cx="3429000" cy="4023360"/>
            <a:chOff x="4343400" y="1737360"/>
            <a:chExt cx="3429000" cy="4023360"/>
          </a:xfrm>
        </p:grpSpPr>
        <p:sp>
          <p:nvSpPr>
            <p:cNvPr id="9" name="Shape 6"/>
            <p:cNvSpPr/>
            <p:nvPr/>
          </p:nvSpPr>
          <p:spPr>
            <a:xfrm>
              <a:off x="4343400" y="1737360"/>
              <a:ext cx="3429000" cy="4023360"/>
            </a:xfrm>
            <a:prstGeom prst="roundRect">
              <a:avLst>
                <a:gd name="adj" fmla="val 3200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Shape 7"/>
            <p:cNvSpPr/>
            <p:nvPr/>
          </p:nvSpPr>
          <p:spPr>
            <a:xfrm>
              <a:off x="5550408" y="2057400"/>
              <a:ext cx="1005840" cy="1005840"/>
            </a:xfrm>
            <a:prstGeom prst="ellipse">
              <a:avLst/>
            </a:prstGeom>
            <a:solidFill>
              <a:srgbClr val="00A896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11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32043" y="2339035"/>
              <a:ext cx="442570" cy="442570"/>
            </a:xfrm>
            <a:prstGeom prst="rect">
              <a:avLst/>
            </a:prstGeom>
          </p:spPr>
        </p:pic>
        <p:sp>
          <p:nvSpPr>
            <p:cNvPr id="12" name="Text 8"/>
            <p:cNvSpPr/>
            <p:nvPr/>
          </p:nvSpPr>
          <p:spPr>
            <a:xfrm>
              <a:off x="4526280" y="3246120"/>
              <a:ext cx="3063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2343B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Gradle 8.11.1</a:t>
              </a:r>
              <a:endParaRPr lang="en-US" sz="21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4663440" y="3794760"/>
              <a:ext cx="27889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Wrapper: cualquier evaluador reproduce el build sin instalar nada.</a:t>
              </a:r>
              <a:endParaRPr lang="en-US" sz="1400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9377BF4-B51E-8A8F-1F33-22F639276D8D}"/>
              </a:ext>
            </a:extLst>
          </p:cNvPr>
          <p:cNvGrpSpPr/>
          <p:nvPr/>
        </p:nvGrpSpPr>
        <p:grpSpPr>
          <a:xfrm>
            <a:off x="8046720" y="1934456"/>
            <a:ext cx="3429000" cy="4023360"/>
            <a:chOff x="8046720" y="1737360"/>
            <a:chExt cx="3429000" cy="4023360"/>
          </a:xfrm>
        </p:grpSpPr>
        <p:sp>
          <p:nvSpPr>
            <p:cNvPr id="14" name="Shape 10"/>
            <p:cNvSpPr/>
            <p:nvPr/>
          </p:nvSpPr>
          <p:spPr>
            <a:xfrm>
              <a:off x="8046720" y="1737360"/>
              <a:ext cx="3429000" cy="4023360"/>
            </a:xfrm>
            <a:prstGeom prst="roundRect">
              <a:avLst>
                <a:gd name="adj" fmla="val 3200"/>
              </a:avLst>
            </a:prstGeom>
            <a:solidFill>
              <a:srgbClr val="E8F4F3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Shape 11"/>
            <p:cNvSpPr/>
            <p:nvPr/>
          </p:nvSpPr>
          <p:spPr>
            <a:xfrm>
              <a:off x="9253728" y="2057400"/>
              <a:ext cx="1005840" cy="1005840"/>
            </a:xfrm>
            <a:prstGeom prst="ellipse">
              <a:avLst/>
            </a:prstGeom>
            <a:solidFill>
              <a:srgbClr val="02C39A"/>
            </a:solidFill>
            <a:ln/>
            <a:effectLst>
              <a:outerShdw blurRad="101600" dist="38100" dir="5400000" algn="bl" rotWithShape="0">
                <a:srgbClr val="0A1F24">
                  <a:alpha val="28000"/>
                </a:srgbClr>
              </a:outerShdw>
            </a:effectLst>
          </p:spPr>
          <p:txBody>
            <a:bodyPr/>
            <a:lstStyle/>
            <a:p>
              <a:endParaRPr lang="es-CO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535363" y="2339035"/>
              <a:ext cx="442570" cy="44257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8229600" y="3246120"/>
              <a:ext cx="30632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2343B"/>
                  </a:solidFill>
                  <a:latin typeface="Century Schoolbook" pitchFamily="34" charset="0"/>
                  <a:ea typeface="Century Schoolbook" pitchFamily="34" charset="-122"/>
                  <a:cs typeface="Century Schoolbook" pitchFamily="34" charset="-120"/>
                </a:rPr>
                <a:t>JUnit 5.11.4</a:t>
              </a:r>
              <a:endParaRPr lang="en-US" sz="2100" dirty="0"/>
            </a:p>
          </p:txBody>
        </p:sp>
        <p:sp>
          <p:nvSpPr>
            <p:cNvPr id="18" name="Text 13"/>
            <p:cNvSpPr/>
            <p:nvPr/>
          </p:nvSpPr>
          <p:spPr>
            <a:xfrm>
              <a:off x="8366760" y="3794760"/>
              <a:ext cx="27889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15000"/>
                </a:lnSpc>
                <a:buNone/>
              </a:pPr>
              <a:r>
                <a:rPr lang="en-US" sz="1400" dirty="0">
                  <a:solidFill>
                    <a:srgbClr val="5E7A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Estándar de pruebas: anotaciones, parametrización y tiempos límite.</a:t>
              </a:r>
              <a:endParaRPr lang="en-US" sz="140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Calculator no calcula: delega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se resuelve en una implementación de la interfaz Operation. Esa separación es lo que hace testeable el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3343D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CalculatorApp (Swing)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UI. No contiene fórmulas.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334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61772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Calculator · Operation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 que orquesta; interfaz con apply(). Addition, Subtraction, Multiplication, Division.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1945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13343D"/>
          </a:solidFill>
          <a:ln w="15875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32104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21040" y="27889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clases de test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3520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Happy, Exceptional, Advanced y Performance verifican el dominio.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2668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2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DivisionByZeroException  ·  excepción de dominio que representa el fallo controlado de dividir por cero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Principios que lo hacen testeable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818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52500" y="2167128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27" y="2384755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66900" y="218541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SRP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70788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clase de operación hace una sola cosa; la GUI no mezcla cálculo con presentación.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150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655820" y="2167128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447" y="238475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0220" y="218541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OCP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674108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una operación = crear una clase que implemente Operation, sin tocar las demás.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4820" y="18745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359140" y="2167128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6767" y="238475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73540" y="218541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DIP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77428" y="292608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depende de la abstracción Operation, no de clases concretas.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7818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952500" y="4407408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127" y="4625035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66900" y="44256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Strategy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70788" y="5166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es una estrategia intercambiable en tiempo de ejecución.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150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4655820" y="4407408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447" y="4625035"/>
            <a:ext cx="341986" cy="3419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0220" y="44256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Inyección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4674108" y="5166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admite cualquier Operation, habilitando dobles de prueba (fakes).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84820" y="4114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E2A3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8359140" y="4407408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6767" y="4625035"/>
            <a:ext cx="341986" cy="3419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73540" y="44256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Resultado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8377428" y="5166360"/>
            <a:ext cx="2880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desacoplado y 100 % verificable de forma automatizada.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Cuatro categorías, cuatro preguntas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508760" y="1965960"/>
            <a:ext cx="822960" cy="82296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189" y="21963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73152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Happy Path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4343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¿Funciona con entradas válidas y normales?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29000" y="169164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822960" cy="822960"/>
          </a:xfrm>
          <a:prstGeom prst="ellipse">
            <a:avLst/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109" y="219638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4600" dirty="0"/>
          </a:p>
        </p:txBody>
      </p:sp>
      <p:sp>
        <p:nvSpPr>
          <p:cNvPr id="15" name="Text 11"/>
          <p:cNvSpPr/>
          <p:nvPr/>
        </p:nvSpPr>
        <p:spPr>
          <a:xfrm>
            <a:off x="352044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Exceptional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3657600" y="4343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¿Falla de forma controlada ante lo inválido?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217920" y="169164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7086600" y="1965960"/>
            <a:ext cx="822960" cy="822960"/>
          </a:xfrm>
          <a:prstGeom prst="ellipse">
            <a:avLst/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029" y="2196389"/>
            <a:ext cx="362102" cy="362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4600" dirty="0"/>
          </a:p>
        </p:txBody>
      </p:sp>
      <p:sp>
        <p:nvSpPr>
          <p:cNvPr id="22" name="Text 17"/>
          <p:cNvSpPr/>
          <p:nvPr/>
        </p:nvSpPr>
        <p:spPr>
          <a:xfrm>
            <a:off x="630936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3550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Avanzadas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446520" y="4343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¿Cumple casos, bordes y contratos de diseño?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9006840" y="1691640"/>
            <a:ext cx="2560320" cy="3977640"/>
          </a:xfrm>
          <a:prstGeom prst="roundRect">
            <a:avLst>
              <a:gd name="adj" fmla="val 4286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1"/>
          <p:cNvSpPr/>
          <p:nvPr/>
        </p:nvSpPr>
        <p:spPr>
          <a:xfrm>
            <a:off x="9875520" y="1965960"/>
            <a:ext cx="822960" cy="822960"/>
          </a:xfrm>
          <a:prstGeom prst="ellipse">
            <a:avLst/>
          </a:prstGeom>
          <a:solidFill>
            <a:srgbClr val="0B6E7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5949" y="2196389"/>
            <a:ext cx="362102" cy="36210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98280" y="2788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B6E7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4600" dirty="0"/>
          </a:p>
        </p:txBody>
      </p:sp>
      <p:sp>
        <p:nvSpPr>
          <p:cNvPr id="29" name="Text 23"/>
          <p:cNvSpPr/>
          <p:nvPr/>
        </p:nvSpPr>
        <p:spPr>
          <a:xfrm>
            <a:off x="9098280" y="3584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1440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9235440" y="43434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rápido y sin regresiones de tiempo?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siguen el patrón AAA (Arrange – Act – Assert) y comparan con tolerancia (DELTA) por la aritmética de punto flotante.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· 1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Camino feliz y camino excepcional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777240" cy="77724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027" y="209214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Happy Path · 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da el resultado correcto con entradas válidas. </a:t>
            </a:r>
            <a:r>
              <a:rPr lang="en-US" sz="14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r>
              <a:rPr lang="en-US" sz="14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 una Calculator nueva por prueba (aislamiento).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2344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Identidad: 9.5 × 1 = 9.5   ·   12 + 0 = 12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4480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Signos: 3 − 8 = −5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34440" y="4983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Decimales: 1.5 + 2.25 = 3.75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4400" y="55321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garantía mínima de que el producto cumple lo que promete.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7220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0E2A3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6446520" y="1874520"/>
            <a:ext cx="777240" cy="777240"/>
          </a:xfrm>
          <a:prstGeom prst="ellipse">
            <a:avLst/>
          </a:prstGeom>
          <a:solidFill>
            <a:srgbClr val="F0A20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147" y="2092147"/>
            <a:ext cx="341986" cy="3419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60920" y="19659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Exceptional Path · 3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446520" y="274320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división por cero lanza </a:t>
            </a:r>
            <a:r>
              <a:rPr lang="en-US" sz="14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DivisionByZeroException</a:t>
            </a:r>
            <a:r>
              <a:rPr lang="en-US" sz="14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vez de Infinity/NaN. Se comprueba con </a:t>
            </a:r>
            <a:r>
              <a:rPr lang="en-US" sz="14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assertThrows</a:t>
            </a:r>
            <a:r>
              <a:rPr lang="en-US" sz="1450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76656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  →  excepción + mensaje exacto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676656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-0.0  →  el −0.0 también se captura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766560" y="5120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0  →  indeterminado, se rechaza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6446520" y="56235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software de calidad falla de forma controlada y predecible.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· 2 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Avanzadas: cobertura y contrato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pruebas con </a:t>
            </a:r>
            <a:r>
              <a:rPr lang="en-US" sz="15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@Nested</a:t>
            </a: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@ParameterizedTest</a:t>
            </a: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5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@CsvSource</a:t>
            </a:r>
            <a:r>
              <a:rPr lang="en-US" sz="15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Tolerancia estricta 1e-9. Prueban el resultado y —lo más valioso— el diseño.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· Suma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29900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positivos, signos, decimales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331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572000" y="25877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53212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 · Resta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29900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cero, negativos, decimales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23317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275320" y="25877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3544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 · Multiplic.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35440" y="29900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absorbente, signos, decimal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68680" y="41879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82880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 · División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45902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exacta, fracción y borde 1/1e-12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43400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E2A3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72000" y="41879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53212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 · Liskov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45902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de Operation (LSP)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46720" y="39319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E2A3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8275320" y="4187952"/>
            <a:ext cx="914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9235440" y="4160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 · Inyección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5440" y="4590288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demuestra que delega, no calcula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 + 0.2 = 0.30000000000000004 → pasa por la tolerancia 1e-9. Los grupos E y F prueban el diseño, no solo las cuentas.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Una red de seguridad frente a regresiones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029200" cy="3794760"/>
          </a:xfrm>
          <a:prstGeom prst="roundRect">
            <a:avLst>
              <a:gd name="adj" fmla="val 2892"/>
            </a:avLst>
          </a:prstGeom>
          <a:solidFill>
            <a:srgbClr val="1334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@Timeout 100 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697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40 000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143000" y="3703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mixtas (10 000 × 4)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4343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declarativa a nivel de método.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029200" cy="3794760"/>
          </a:xfrm>
          <a:prstGeom prst="roundRect">
            <a:avLst>
              <a:gd name="adj" fmla="val 2892"/>
            </a:avLst>
          </a:prstGeom>
          <a:solidFill>
            <a:srgbClr val="13343D"/>
          </a:solidFill>
          <a:ln w="15875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537960" y="2148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assertTimeout 200 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2697480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1 000 000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537960" y="3703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seguidas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4343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F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Aserción programática dentro del test.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benchmark riguroso (para eso, JMH), pero detecta regresiones groseras de rendimiento automáticamente. Incluir ambas técnicas demuestra dominio de las dos formas de acotar tiempo en JUnit 5.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 de 34 pruebas exitosas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4434840"/>
          </a:xfrm>
          <a:prstGeom prst="roundRect">
            <a:avLst>
              <a:gd name="adj" fmla="val 3111"/>
            </a:avLst>
          </a:prstGeom>
          <a:solidFill>
            <a:srgbClr val="0E2A32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331720" y="2011680"/>
            <a:ext cx="777240" cy="777240"/>
          </a:xfrm>
          <a:prstGeom prst="ellipse">
            <a:avLst/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347" y="222930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4617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67128" y="4617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075688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fallidos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465576" y="4617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A89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3374136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FC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omitidos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7492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Distribución por clase (todas pasan)</a:t>
            </a:r>
            <a:endParaRPr lang="en-US" sz="17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029200" y="2148840"/>
          <a:ext cx="6492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Text 13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Compilado y ejecutado sobre JDK Temurin 21 con JUnit Jupiter  ·  reproducible con  .\gradlew.bat test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Qué demuestran los resultados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960120" y="1965960"/>
            <a:ext cx="868680" cy="868680"/>
          </a:xfrm>
          <a:prstGeom prst="ellipse">
            <a:avLst/>
          </a:prstGeom>
          <a:solidFill>
            <a:srgbClr val="028090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350" y="220919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1993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Lógica correcta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201168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camino feliz + 17 casos parametrizados confirman el resultado esperado: signos, decimales y neutros.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4592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492240" y="1965960"/>
            <a:ext cx="868680" cy="868680"/>
          </a:xfrm>
          <a:prstGeom prst="ellipse">
            <a:avLst/>
          </a:prstGeom>
          <a:solidFill>
            <a:srgbClr val="00A896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70" y="220919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19933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Errores robustos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7543800" y="27432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camino excepcional + contrato de división: 0, −0.0 y 0/0 se rechazan de forma controlada.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960120" y="4206240"/>
            <a:ext cx="868680" cy="868680"/>
          </a:xfrm>
          <a:prstGeom prst="ellipse">
            <a:avLst/>
          </a:prstGeom>
          <a:solidFill>
            <a:srgbClr val="02C39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350" y="444947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336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Diseño sólido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2011680" y="4983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(Liskov) e inyección validan que la arquitectura Strategy + DIP funciona y es testeable.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E8F4F3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6492240" y="4206240"/>
            <a:ext cx="868680" cy="868680"/>
          </a:xfrm>
          <a:prstGeom prst="ellipse">
            <a:avLst/>
          </a:prstGeom>
          <a:solidFill>
            <a:srgbClr val="0B6E7A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470" y="444947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2336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4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Rendimiento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543800" y="49834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 ops en &lt;100 ms y 1 000 000 sumas en &lt;200 ms: sin cuellos de botella.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75520" y="-1828800"/>
            <a:ext cx="5029200" cy="50292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1B4048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794" y="1046074"/>
            <a:ext cx="422453" cy="4224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65960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965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 caso pequeño pero completo de software de calidad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68680" y="3246120"/>
            <a:ext cx="457200" cy="457200"/>
          </a:xfrm>
          <a:prstGeom prst="ellipse">
            <a:avLst/>
          </a:prstGeom>
          <a:solidFill>
            <a:srgbClr val="13343D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37413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19125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objetivo académico: arquitectura desacoplada y pruebas exhaustivas.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13343D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1513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96849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integral: casos válidos, inválidos, límite, de contrato y de rendimiento (patrón AAA).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68680" y="4800600"/>
            <a:ext cx="457200" cy="457200"/>
          </a:xfrm>
          <a:prstGeom prst="ellipse">
            <a:avLst/>
          </a:prstGeom>
          <a:solidFill>
            <a:srgbClr val="13343D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92861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74573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34/34 pruebas exitosas: evidencia objetiva de corrección, robustez y eficiencia.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68680" y="5577840"/>
            <a:ext cx="457200" cy="457200"/>
          </a:xfrm>
          <a:prstGeom prst="ellipse">
            <a:avLst/>
          </a:prstGeom>
          <a:solidFill>
            <a:srgbClr val="13343D"/>
          </a:solidFill>
          <a:ln/>
          <a:effectLst>
            <a:outerShdw blurRad="101600" dist="38100" dir="5400000" algn="bl" rotWithShape="0">
              <a:srgbClr val="0A1F24">
                <a:alpha val="2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570585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552297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lógica (Calculator/Operation) de la interfaz permite probar el 100 % del negocio sin la GUI.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1446</Words>
  <Application>Microsoft Office PowerPoint</Application>
  <PresentationFormat>Panorámica</PresentationFormat>
  <Paragraphs>172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Schoolbook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 Andrey Henao Rincón</cp:lastModifiedBy>
  <cp:revision>3</cp:revision>
  <dcterms:created xsi:type="dcterms:W3CDTF">2026-08-23T18:56:26Z</dcterms:created>
  <dcterms:modified xsi:type="dcterms:W3CDTF">2026-08-23T19:08:24Z</dcterms:modified>
</cp:coreProperties>
</file>